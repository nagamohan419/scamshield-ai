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7A19875-B22E-4A10-A61A-C999FF31A09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gamohan419/scamshield-ai" TargetMode="External"/><Relationship Id="rId2" Type="http://schemas.openxmlformats.org/officeDocument/2006/relationships/hyperlink" Target="https://scamshield-fraud-watchdog.streamlit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1078992"/>
            <a:ext cx="118872" cy="310896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3271" y="1133856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2DACD"/>
                </a:solidFill>
                <a:latin typeface="Aptos"/>
              </a:defRPr>
            </a:pPr>
            <a:r>
              <a:t>AI-POWERED DIGITAL FRAUD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5600" b="1">
                <a:solidFill>
                  <a:srgbClr val="F1F7FC"/>
                </a:solidFill>
                <a:latin typeface="Aptos"/>
              </a:defRPr>
            </a:pPr>
            <a:r>
              <a:t>ScamShield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3127248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A2B6C9"/>
                </a:solidFill>
                <a:latin typeface="Aptos"/>
              </a:defRPr>
            </a:pPr>
            <a:r>
              <a:t>Detect suspicious messages. Understand the warning signs. Take safer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1" y="4892040"/>
            <a:ext cx="6309360" cy="612648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505663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2DACD"/>
                </a:solidFill>
                <a:latin typeface="Aptos"/>
              </a:defRPr>
            </a:pPr>
            <a:r>
              <a:t>Gemma 4  •  Python  •  Streamlit  •  Multilingual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6108192"/>
            <a:ext cx="9144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2B6C9"/>
                </a:solidFill>
                <a:latin typeface="Aptos"/>
              </a:defRPr>
            </a:pPr>
            <a:r>
              <a:rPr dirty="0"/>
              <a:t>Hackathon project  |  Live public demo available</a:t>
            </a:r>
            <a:r>
              <a:rPr lang="en-IN" dirty="0"/>
              <a:t>                                                                                                                                                                                                           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CE7844-5E88-5927-E732-CE3E6397DCEC}"/>
              </a:ext>
            </a:extLst>
          </p:cNvPr>
          <p:cNvSpPr txBox="1"/>
          <p:nvPr/>
        </p:nvSpPr>
        <p:spPr>
          <a:xfrm>
            <a:off x="9160933" y="5612688"/>
            <a:ext cx="2455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 err="1">
                <a:solidFill>
                  <a:schemeClr val="bg1"/>
                </a:solidFill>
              </a:rPr>
              <a:t>NagaMohan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Burugupalli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3456432" cy="333756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1828800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819656"/>
            <a:ext cx="29077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Messages look convincing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68296"/>
            <a:ext cx="299923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Fraudulent SMS, WhatsApp, banking, UPI, job, shopping and investment messages often imitate legitimate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9344"/>
            <a:ext cx="3456432" cy="333756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44568" y="1828800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1819656"/>
            <a:ext cx="29077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Pressure defeats 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68296"/>
            <a:ext cx="299923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Urgency, fear, fake rewards and impersonation push people to click links, disclose OTPs or send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609344"/>
            <a:ext cx="3456432" cy="333756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3023" y="1828800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819656"/>
            <a:ext cx="29077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Guidance is fragmented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368296"/>
            <a:ext cx="299923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People need understandable explanations and clear next steps, not just a vague “scam” label.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1F7FC"/>
                </a:solidFill>
                <a:latin typeface="Aptos"/>
              </a:defRPr>
            </a:pPr>
            <a:r>
              <a:t>Opportunity: turn a suspicious message into practical, accessible fraud-awareness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09344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1F7FC"/>
                </a:solidFill>
                <a:latin typeface="Aptos"/>
              </a:defRPr>
            </a:pPr>
            <a:r>
              <a:t>ScamShield AI analyzes a message and guides the user through what to do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87752"/>
            <a:ext cx="2688336" cy="246888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2688" y="2807208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798064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01  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346704"/>
            <a:ext cx="223113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Paste suspicious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2587752"/>
            <a:ext cx="2688336" cy="246888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85615" y="2807208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8496" y="2798064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02 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3346704"/>
            <a:ext cx="223113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Risk level, category and warning signs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2587752"/>
            <a:ext cx="2688336" cy="246888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38544" y="2807208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21424" y="2798064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03  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3346704"/>
            <a:ext cx="223113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Situation-aware safety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2587752"/>
            <a:ext cx="2688336" cy="246888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91472" y="2807208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74352" y="2798064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04  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3346704"/>
            <a:ext cx="223113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Regional-language guidance and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522976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Designed for fraud awareness — not definitive proof that a message is safe or fraudulent.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What users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91056"/>
            <a:ext cx="3621024" cy="20482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" y="1810512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801368"/>
            <a:ext cx="30723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Hybrid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350008"/>
            <a:ext cx="3163824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Excel-based rules combined with Gemma 4 explanations.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91056"/>
            <a:ext cx="3621024" cy="20482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1810512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1801368"/>
            <a:ext cx="30723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Risk &amp; warning 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50008"/>
            <a:ext cx="3163824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High Concern / Review / Low Concern / Unknown where appropriate.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1591056"/>
            <a:ext cx="3621024" cy="20482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77072" y="1810512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9952" y="1801368"/>
            <a:ext cx="30723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Three 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350008"/>
            <a:ext cx="3163824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English, Hindi and Telugu explanations and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840480"/>
            <a:ext cx="3621024" cy="20482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2688" y="4059936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050792"/>
            <a:ext cx="30723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Personalized 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" y="4599432"/>
            <a:ext cx="3163824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Advice adapts if information was shared or payment was made.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840480"/>
            <a:ext cx="3621024" cy="20482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54880" y="4059936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0" y="4050792"/>
            <a:ext cx="30723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Reporting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599432"/>
            <a:ext cx="3163824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Guidance to Indian cybercrime reporting channels.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3840480"/>
            <a:ext cx="3621024" cy="20482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77072" y="4059936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59952" y="4050792"/>
            <a:ext cx="30723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Save the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4599432"/>
            <a:ext cx="3163824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Download a text-based report for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0280"/>
            <a:ext cx="2148840" cy="1517904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523744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1F7FC"/>
                </a:solidFill>
                <a:latin typeface="Aptos"/>
              </a:defRPr>
            </a:pPr>
            <a:r>
              <a:t>User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99232"/>
            <a:ext cx="19202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2B6C9"/>
                </a:solidFill>
                <a:latin typeface="Aptos"/>
              </a:defRPr>
            </a:pPr>
            <a:r>
              <a:t>Streamlit web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688336"/>
            <a:ext cx="2103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2D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7" y="2240280"/>
            <a:ext cx="2148840" cy="1517904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8103" y="2523744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1F7FC"/>
                </a:solidFill>
                <a:latin typeface="Aptos"/>
              </a:defRPr>
            </a:pPr>
            <a:r>
              <a:t>Rule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3" y="2999232"/>
            <a:ext cx="19202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2B6C9"/>
                </a:solidFill>
                <a:latin typeface="Aptos"/>
              </a:defRPr>
            </a:pPr>
            <a:r>
              <a:t>Excel patterns +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1" y="2688336"/>
            <a:ext cx="2103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2D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1807" y="2240280"/>
            <a:ext cx="2148840" cy="1517904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9823" y="2523744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1F7FC"/>
                </a:solidFill>
                <a:latin typeface="Aptos"/>
              </a:defRPr>
            </a:pPr>
            <a:r>
              <a:t>Gemma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3" y="2999232"/>
            <a:ext cx="19202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2B6C9"/>
                </a:solidFill>
                <a:latin typeface="Aptos"/>
              </a:defRPr>
            </a:pPr>
            <a:r>
              <a:t>AI explanation / translation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2688336"/>
            <a:ext cx="2103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2D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53527" y="2240280"/>
            <a:ext cx="2148840" cy="1517904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81544" y="2523744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1F7FC"/>
                </a:solidFill>
                <a:latin typeface="Aptos"/>
              </a:defRPr>
            </a:pPr>
            <a:r>
              <a:t>Response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1544" y="2999232"/>
            <a:ext cx="19202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2B6C9"/>
                </a:solidFill>
                <a:latin typeface="Aptos"/>
              </a:defRPr>
            </a:pPr>
            <a:r>
              <a:t>Context-aware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1" y="2688336"/>
            <a:ext cx="2103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2D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85248" y="2240280"/>
            <a:ext cx="2148840" cy="1517904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13264" y="2523744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1F7FC"/>
                </a:solidFill>
                <a:latin typeface="Aptos"/>
              </a:defRPr>
            </a:pPr>
            <a:r>
              <a:t>User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999232"/>
            <a:ext cx="19202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A2B6C9"/>
                </a:solidFill>
                <a:latin typeface="Aptos"/>
              </a:defRPr>
            </a:pPr>
            <a:r>
              <a:t>Risk + steps +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681728"/>
            <a:ext cx="10168128" cy="82296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4928616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32DACD"/>
                </a:solidFill>
                <a:latin typeface="Aptos"/>
              </a:defRPr>
            </a:pPr>
            <a:r>
              <a:t>Gemma 4 is accessed through the Gemini API; credentials are stored in Streamlit Secrets.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LIVE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A realistic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36776"/>
            <a:ext cx="5486400" cy="201168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1892807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85A"/>
                </a:solidFill>
                <a:latin typeface="Aptos"/>
              </a:defRPr>
            </a:pPr>
            <a:r>
              <a:t>FICTIONAL BANK KYC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368296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1F7FC"/>
                </a:solidFill>
                <a:latin typeface="Aptos"/>
              </a:defRPr>
            </a:pPr>
            <a:r>
              <a:t>“Your account will be blocked in 30 minutes. Update KYC at this link and enter your OTP.”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36776"/>
            <a:ext cx="4965192" cy="201168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1856232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1847088"/>
            <a:ext cx="44165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ScamShield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95728"/>
            <a:ext cx="4507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A2B6C9"/>
                </a:solidFill>
                <a:latin typeface="Aptos"/>
              </a:defRPr>
            </a:pPr>
            <a:r>
              <a:t>High Concern  •  Banking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931920"/>
            <a:ext cx="5394960" cy="150876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2688" y="4151376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Detected warning signs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4690872"/>
            <a:ext cx="4937760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Artificial urgency, suspicious link, OTP request.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3931920"/>
            <a:ext cx="5084064" cy="150876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10528" y="4151376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8" y="4142232"/>
            <a:ext cx="45354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Safer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690872"/>
            <a:ext cx="46268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Avoid the link; use the bank’s official app or contact 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BEYOND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Context-aware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09928"/>
            <a:ext cx="3502152" cy="34198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" y="1929384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920240"/>
            <a:ext cx="29535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Only received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468880"/>
            <a:ext cx="3044952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Do not engage with suspicious links or requests. Verify independently through official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09928"/>
            <a:ext cx="3502152" cy="34198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929384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920240"/>
            <a:ext cx="29535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Shared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044952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Focus on protecting accounts and credentials, and contacting the relevant provider.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09928"/>
            <a:ext cx="3502152" cy="341985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1" y="1929384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920240"/>
            <a:ext cx="29535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Already 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468880"/>
            <a:ext cx="3044952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Prioritize urgent reporting and contact with the payment provider; in India, cybercrime helpline 1930.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577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Guidance is adapted to the user’s situation and should not replace official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BUILT AND 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09344"/>
            <a:ext cx="5376672" cy="200253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" y="1828800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819656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368296"/>
            <a:ext cx="491947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Streamlit, 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609344"/>
            <a:ext cx="5376672" cy="200253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8816" y="1828800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1819656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AI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368296"/>
            <a:ext cx="491947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Gemma 4 26B A4B via Gemini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822191"/>
            <a:ext cx="5376672" cy="200253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2688" y="4041648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32504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Data &amp;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581144"/>
            <a:ext cx="491947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Pandas, OpenPyXL, Excel fraud dataset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3822191"/>
            <a:ext cx="5376672" cy="2002536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4041648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1696" y="4032504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4581144"/>
            <a:ext cx="491947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GitHub + Streamlit Community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t>WHAT IS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Validation &amp; current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82496"/>
            <a:ext cx="5340096" cy="3319272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" y="1901952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892808"/>
            <a:ext cx="47914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Verified in live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441448"/>
            <a:ext cx="4882896" cy="2404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Suspicious KYC example returned High Concern</a:t>
            </a:r>
          </a:p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Legitimate statement example tested</a:t>
            </a:r>
          </a:p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Hindi / Telugu output tested</a:t>
            </a:r>
          </a:p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Public Streamlit deployment succeeded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682496"/>
            <a:ext cx="5175504" cy="3319272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28232" y="1901952"/>
            <a:ext cx="50292" cy="347472"/>
          </a:xfrm>
          <a:prstGeom prst="rect">
            <a:avLst/>
          </a:prstGeom>
          <a:solidFill>
            <a:srgbClr val="FF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892808"/>
            <a:ext cx="4626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What we still need to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41448"/>
            <a:ext cx="4718304" cy="2404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Broader precision and recall</a:t>
            </a:r>
          </a:p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False-positive and false-negative rates</a:t>
            </a:r>
          </a:p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Performance across languages and scam types</a:t>
            </a:r>
          </a:p>
          <a:p>
            <a:pPr>
              <a:spcAft>
                <a:spcPts val="800"/>
              </a:spcAft>
              <a:defRPr sz="1600" b="0">
                <a:solidFill>
                  <a:srgbClr val="A2B6C9"/>
                </a:solidFill>
                <a:latin typeface="Aptos"/>
              </a:defRPr>
            </a:pPr>
            <a:r>
              <a:t>• Usability with real-world 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413248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t>Current tests demonstrate working functionality, not a certified fraud-detection accuracy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84632"/>
            <a:ext cx="91440" cy="502920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2DACD"/>
                </a:solidFill>
                <a:latin typeface="Aptos"/>
              </a:defRPr>
            </a:pPr>
            <a:r>
              <a:rPr dirty="0"/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1F7FC"/>
                </a:solidFill>
                <a:latin typeface="Aptos"/>
              </a:defRPr>
            </a:pPr>
            <a:r>
              <a:t>Live demo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464808"/>
            <a:ext cx="10789920" cy="16459"/>
          </a:xfrm>
          <a:prstGeom prst="rect">
            <a:avLst/>
          </a:prstGeom>
          <a:solidFill>
            <a:srgbClr val="35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rPr dirty="0"/>
              <a:t>SCAMSHIELD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2B6C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2DACD"/>
                </a:solidFill>
                <a:latin typeface="Aptos"/>
              </a:defRPr>
            </a:pPr>
            <a:r>
              <a:t>Try the live application: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84831"/>
            <a:ext cx="1069848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1F7FC"/>
                </a:solidFill>
                <a:latin typeface="Aptos"/>
              </a:defRPr>
            </a:pPr>
            <a:r>
              <a:rPr lang="en-IN" sz="2700" b="1" dirty="0" err="1">
                <a:solidFill>
                  <a:srgbClr val="F1F7FC"/>
                </a:solidFill>
                <a:latin typeface="Aptos"/>
                <a:hlinkClick r:id="rId2"/>
              </a:rPr>
              <a:t>ScamShield</a:t>
            </a:r>
            <a:r>
              <a:rPr lang="en-IN" sz="2700" b="1" dirty="0">
                <a:solidFill>
                  <a:srgbClr val="F1F7FC"/>
                </a:solidFill>
                <a:latin typeface="Aptos"/>
                <a:hlinkClick r:id="rId2"/>
              </a:rPr>
              <a:t> AI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68096" y="2816352"/>
            <a:ext cx="10515600" cy="9900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r>
              <a:rPr dirty="0"/>
              <a:t>Source: </a:t>
            </a:r>
            <a:r>
              <a:rPr lang="en-IN" sz="1700" dirty="0" err="1">
                <a:solidFill>
                  <a:srgbClr val="A2B6C9"/>
                </a:solidFill>
                <a:latin typeface="Aptos"/>
                <a:hlinkClick r:id="rId3"/>
              </a:rPr>
              <a:t>Github</a:t>
            </a:r>
            <a:r>
              <a:rPr lang="en-IN" sz="1700" dirty="0">
                <a:solidFill>
                  <a:srgbClr val="A2B6C9"/>
                </a:solidFill>
                <a:latin typeface="Aptos"/>
                <a:hlinkClick r:id="rId3"/>
              </a:rPr>
              <a:t> Repo</a:t>
            </a:r>
            <a:endParaRPr lang="en-IN" dirty="0"/>
          </a:p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800"/>
              </a:spcAft>
              <a:defRPr sz="1700" b="0">
                <a:solidFill>
                  <a:srgbClr val="A2B6C9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68096" y="3685032"/>
            <a:ext cx="5230368" cy="1618488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0976" y="3904488"/>
            <a:ext cx="50292" cy="347472"/>
          </a:xfrm>
          <a:prstGeom prst="rect">
            <a:avLst/>
          </a:prstGeom>
          <a:solidFill>
            <a:srgbClr val="32D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" y="3895344"/>
            <a:ext cx="46817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Demo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4443984"/>
            <a:ext cx="4773168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Banking scam → legitimate message → Telugu/Hindi → reporting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3685032"/>
            <a:ext cx="5230368" cy="1618488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45936" y="3904488"/>
            <a:ext cx="50292" cy="347472"/>
          </a:xfrm>
          <a:prstGeom prst="rect">
            <a:avLst/>
          </a:prstGeom>
          <a:solidFill>
            <a:srgbClr val="6B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3895344"/>
            <a:ext cx="4681728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rPr dirty="0"/>
              <a:t>feedback requested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4443984"/>
            <a:ext cx="4773168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6C9"/>
                </a:solidFill>
                <a:latin typeface="Aptos"/>
              </a:defRPr>
            </a:pPr>
            <a:r>
              <a:t>Detection quality, UX, evaluation methodology, and responsible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88873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2DACD"/>
                </a:solidFill>
                <a:latin typeface="Aptos"/>
              </a:defRPr>
            </a:pPr>
            <a:r>
              <a:t>ScamShield AI  |  Helping users recognize risks and act with confidence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636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Bablu</dc:creator>
  <cp:keywords/>
  <dc:description>generated using python-pptx</dc:description>
  <cp:lastModifiedBy>nagamohan4262@outlook.com</cp:lastModifiedBy>
  <cp:revision>3</cp:revision>
  <dcterms:created xsi:type="dcterms:W3CDTF">2013-01-27T09:14:16Z</dcterms:created>
  <dcterms:modified xsi:type="dcterms:W3CDTF">2026-10-24T08:31:04Z</dcterms:modified>
  <cp:category/>
</cp:coreProperties>
</file>